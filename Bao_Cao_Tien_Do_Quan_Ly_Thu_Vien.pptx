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971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A5E9"/>
                </a:solidFill>
                <a:latin typeface="Segoe UI"/>
              </a:defRPr>
            </a:pPr>
            <a:r>
              <a:t>BÁO CÁO TIẾN ĐỘ DỰ ÁN XÂY DỰNG WEB</a:t>
            </a:r>
          </a:p>
          <a:p>
            <a:pPr>
              <a:spcAft>
                <a:spcPts val="600"/>
              </a:spcAft>
              <a:defRPr sz="2800" b="1">
                <a:solidFill>
                  <a:srgbClr val="4F46E5"/>
                </a:solidFill>
                <a:latin typeface="Segoe UI"/>
              </a:defRPr>
            </a:pPr>
            <a:r>
              <a:t>HỆ THỐNG QUẢN LÝ THƯ VIỆN</a:t>
            </a:r>
          </a:p>
          <a:p>
            <a:pPr>
              <a:spcAft>
                <a:spcPts val="2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Môn học: Phân tích &amp; Thiết kế Hệ thống Thông tin / Lập trình Web</a:t>
            </a:r>
          </a:p>
          <a:p>
            <a:pPr>
              <a:spcAft>
                <a:spcPts val="800"/>
              </a:spcAft>
              <a:defRPr sz="1350" b="1">
                <a:solidFill>
                  <a:srgbClr val="F59E0B"/>
                </a:solidFill>
                <a:latin typeface="Segoe UI"/>
              </a:defRPr>
            </a:pPr>
            <a:r>
              <a:t>THÔNG TIN NHÓM &amp; THÀNH VIÊN THỰC HIỆN: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Tên Nhóm: Nhóm 3 - Lớp Quản Lý Thư Viện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Thành viên 1: Trương Thị Hạnh - Lập trình Backend (Python HTTP Server) &amp; CSDL (SQLite3)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Thành viên 2: Nguyễn Hồng Ngọc - Thiết kế UI/UX Giao diện Web (HTML/CSS/JS) &amp; Visual Dashboard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Thành viên 3: Vy Thị Hồng Ngọc - Phân tích Hệ thống (RBAC, Use Case, ERD), QA &amp; Tài liệu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BÁO CÁO TIẾN ĐỘ DỰ ÁN - HỆ THỐNG QUẢN LÝ THƯ VIỆN</a:t>
            </a:r>
          </a:p>
          <a:p>
            <a:pPr>
              <a:defRPr sz="2200" b="1">
                <a:solidFill>
                  <a:srgbClr val="4F46E5"/>
                </a:solidFill>
                <a:latin typeface="Segoe UI"/>
              </a:defRPr>
            </a:pPr>
            <a:r>
              <a:t>Slide 2: Giới Thiệu Đề Tài &amp; Vấn Đề Cần Giải Quyết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📌 Giới Thiệu &amp; Lý Do Chọn Đề Tài</a:t>
            </a:r>
          </a:p>
          <a:p>
            <a:pPr>
              <a:spcAft>
                <a:spcPts val="4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Thư viện đóng vai trò trung tâm trong quản lý và lưu trữ tri thức nhà trường và doanh nghiệp.</a:t>
            </a:r>
          </a:p>
          <a:p>
            <a:pPr>
              <a:spcAft>
                <a:spcPts val="4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Nhiều thư viện hiện nay vẫn sử dụng quy trình ghi chép thủ công hoặc phần mềm cũ khó tra cứu.</a:t>
            </a:r>
          </a:p>
          <a:p>
            <a:pPr>
              <a:spcAft>
                <a:spcPts val="4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Xu hướng chuyển đổi số yêu cầu một hệ thống Web quản lý tập trung, minh bạch và hiện đại.</a:t>
            </a:r>
          </a:p>
          <a:p>
            <a:pPr>
              <a:spcAft>
                <a:spcPts val="4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Đề tài hướng tới xây dựng giải pháp Web Thư viện mượt mà, giúp tối ưu hóa công tác mượn/trả sách.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  <a:latin typeface="Segoe UI"/>
              </a:defRPr>
            </a:pPr>
            <a:r>
              <a:t>❌ Vấn Đề Cần Giải Quyết Thực Tế</a:t>
            </a:r>
          </a:p>
          <a:p>
            <a:pPr>
              <a:spcAft>
                <a:spcPts val="4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Tra cứu sách lâu: Độc giả mất nhiều thời gian tìm sách, không biết chính xác vị trí kệ kho.</a:t>
            </a:r>
          </a:p>
          <a:p>
            <a:pPr>
              <a:spcAft>
                <a:spcPts val="4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Nhầm lẫn ngày hạn: Thủ thư ghi chép tay dễ nhầm hạn trả và tính sai tiền phạt quá hạn.</a:t>
            </a:r>
          </a:p>
          <a:p>
            <a:pPr>
              <a:spcAft>
                <a:spcPts val="4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Quản lý kho kém: Khó nắm bắt chính xác số lượng sách còn khả dụng thực tế trong kho.</a:t>
            </a:r>
          </a:p>
          <a:p>
            <a:pPr>
              <a:spcAft>
                <a:spcPts val="4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Không có hàng chờ: Khi sách hot bị mượn hết, không có cách nào xếp hàng đặt trước cho người mượn sau.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BÁO CÁO TIẾN ĐỘ DỰ ÁN - HỆ THỐNG QUẢN LÝ THƯ VIỆN</a:t>
            </a:r>
          </a:p>
          <a:p>
            <a:pPr>
              <a:defRPr sz="2200" b="1">
                <a:solidFill>
                  <a:srgbClr val="4F46E5"/>
                </a:solidFill>
                <a:latin typeface="Segoe UI"/>
              </a:defRPr>
            </a:pPr>
            <a:r>
              <a:t>Slide 3: Mục Tiêu Hệ Thống, Đối Tượng &amp; Phạm Vi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A5E9"/>
                </a:solidFill>
                <a:latin typeface="Segoe UI"/>
              </a:defRPr>
            </a:pPr>
            <a:r>
              <a:t>🎯 Mục Tiêu Hệ Thống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Xây dựng ứng dụng Web SPA tra cứu và quản lý thư viện trực tuyến 24/7.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Số hóa toàn bộ dữ liệu: Sách, Thể loại, Thẻ độc giả, Phiếu mượn/trả.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Tự động hóa hoàn toàn việc tính tiền phạt quá hạn 5.000đ/ngày.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Tối ưu quy trình vận hành cho thủ thư và trải nghiệm tra cứu cho độc giả.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👥 Đối Tượng Sử Dụng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Quản trị viên (Admin): Quản lý tài khoản, phân quyền, xem thống kê báo cáo.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Thủ thư (Librarian): Quản lý sách, quản lý độc giả, cho mượn/trả, gia hạn, thu phạt.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Độc giả (Reader): Tra cứu sách, tìm vị trí kệ, xem lịch sử mượn, đặt trước sách.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E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🚩 Phạm Vi Dự Án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Phạm vi chức năng: Quản lý sách, độc giả, mượn/trả, gia hạn, phạt quá hạn, đặt trước, thống kê.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Phạm vi công nghệ: Ứng dụng Web chạy trên môi trường local/network với Python &amp; SQLite3.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Đối tượng áp dụng: Thư viện trường học, trung tâm đào tạo hoặc thư viện nội bộ.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BÁO CÁO TIẾN ĐỘ DỰ ÁN - HỆ THỐNG QUẢN LÝ THƯ VIỆN</a:t>
            </a:r>
          </a:p>
          <a:p>
            <a:pPr>
              <a:defRPr sz="2200" b="1">
                <a:solidFill>
                  <a:srgbClr val="4F46E5"/>
                </a:solidFill>
                <a:latin typeface="Segoe UI"/>
              </a:defRPr>
            </a:pPr>
            <a:r>
              <a:t>Slide 4: Phân Tích Yêu Cầu Chức Năng &amp; Phi Chức Năng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⚙️ Yêu Cầu Chức Năng (Functional)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Đăng nhập &amp; Phân quyền: Đăng nhập bảo mật, phân quyền 3 vai trò (Admin, Thủ thư, Độc giả).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Quản lý Sách &amp; Thể loại: Thêm/sửa/xóa sách, xem vị trí kệ, theo dõi tổng số lượng &amp; tồn kho.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Quản lý Độc giả: Cấp mới thẻ độc giả (Sinh viên, Giảng viên), gia hạn thẻ, tạm khóa thẻ.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Quản lý Mượn/Trả/Phạt: Lập phiếu mượn 14 ngày, gia hạn +14 ngày (tối đa 2 lần), tính phạt 5.000đ/ngày trễ &amp; thu phạt.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Đặt trước sách: Xếp hàng chờ mượn khi sách trong kho hết.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Báo cáo thống kê: Thống kê cơ cấu thể loại, lượt mượn/trả &amp; KPIs realtime.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🛡️ Yêu Cầu Phi Chức Năng (Non-Functional)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Hiệu năng &amp; Phản hồi: Giao diện SPA phản hồi nhanh dưới 1 giây, tra cứu tức thì thời gian thực.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Bảo mật: Mã hóa mật khẩu người dùng bằng SHA-256, kiểm tra session đăng nhập.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Toàn vẹn dữ liệu: CSDL SQLite3 bật ràng buộc khóa ngoại (PRAGMA foreign_keys = ON).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Tính dễ sử dụng: Giao diện Light Mode tươi sáng, trực quan, hỗ trợ nút đăng nhập nhanh dùng thử.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Khả năng mở rộng: Kiến trúc RESTful API cho phép dễ dàng tích hợp thêm tính năng nâng cao.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BÁO CÁO TIẾN ĐỘ DỰ ÁN - HỆ THỐNG QUẢN LÝ THƯ VIỆN</a:t>
            </a:r>
          </a:p>
          <a:p>
            <a:pPr>
              <a:defRPr sz="2200" b="1">
                <a:solidFill>
                  <a:srgbClr val="4F46E5"/>
                </a:solidFill>
                <a:latin typeface="Segoe UI"/>
              </a:defRPr>
            </a:pPr>
            <a:r>
              <a:t>Slide 5: Các Chức Năng Chính Thực Sự Có Trong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🔐 1. Đăng Nhập &amp; Phân Quyền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Cổng đăng nhập bắt buộc (Login Gate Overlay).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Phân quyền 3 vai trò: Admin, Thủ thư, Độc giả.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Nút đăng nhập nhanh Preset Accounts dùng thử.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A5E9"/>
                </a:solidFill>
                <a:latin typeface="Segoe UI"/>
              </a:defRPr>
            </a:pPr>
            <a:r>
              <a:t>📚 2. Tra Cứu &amp; Quản Lý Sách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Xem sách dạng Thẻ Grid / Bảng Table.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Tìm kiếm từ khóa tức thì &amp; Lọc theo Thể loại.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Thêm/sửa/xóa sách, vị trí kệ (Kệ A1, B2...) &amp; tồn kho.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43F5E"/>
                </a:solidFill>
                <a:latin typeface="Segoe UI"/>
              </a:defRPr>
            </a:pPr>
            <a:r>
              <a:t>🤝 3. Quản Lý Mượn / Trả / Phạt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Lập phiếu mượn (hạn 14 ngày, kiểm tra tồn kho).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Gia hạn hạn mượn +14 ngày (tối đa 2 lần).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Trả sách, tính phạt quá hạn (5.000đ/ngày) &amp; Thu phạt.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🎴 4. Độc Giả, Đặt Trước &amp; Thống Kê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Quản lý thẻ độc giả (Sinh viên, Giảng viên), khóa/mở thẻ.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Đặt trước sách khi hết kho (Xếp hàng queue_order).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Dashboard Biểu đồ Chart.js &amp; Bảng điều khiển Admin.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BÁO CÁO TIẾN ĐỘ DỰ ÁN - HỆ THỐNG QUẢN LÝ THƯ VIỆN</a:t>
            </a:r>
          </a:p>
          <a:p>
            <a:pPr>
              <a:defRPr sz="2200" b="1">
                <a:solidFill>
                  <a:srgbClr val="4F46E5"/>
                </a:solidFill>
                <a:latin typeface="Segoe UI"/>
              </a:defRPr>
            </a:pPr>
            <a:r>
              <a:t>Slide 6: Sơ Đồ Chức Năng &amp; Các Actor Trong Hệ Thống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E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👑 Actor: Admin (Quản trị)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Quản lý tài khoản hệ thống (Users)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Phân quyền tài khoản (Admin, Thủ thư, Độc giả)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Xem Dashboard báo cáo tổng quan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Reset mật khẩu &amp; Cấu hình hệ thống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Xem Nhật ký nộp phạt (Fine Logs)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📚 Actor: Thủ Thư (Librarian)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Quản lý kho sách (Thêm/Sửa/Xóa/Vị trí kệ)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Quản lý thẻ độc giả (Cấp thẻ, Khóa/Mở thẻ)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Lập phiếu mượn sách mới tại quầy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Xác nhận trả sách &amp; Giải phóng tồn kho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Gia hạn sách &amp; Thu tiền phạt quá hạn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Duyệt danh sách Đặt trước sách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📖 Actor: Độc Giả (Reader)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Đăng nhập tài khoản độc giả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Tra cứu danh mục sách &amp; vị trí kệ kho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Xem chi tiết thông tin sách &amp; số lượng còn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Xem lịch sử phiếu mượn cá nhân &amp; hạn trả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Thực hiện Đặt trước khi sách bị mượn hết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BÁO CÁO TIẾN ĐỘ DỰ ÁN - HỆ THỐNG QUẢN LÝ THƯ VIỆN</a:t>
            </a:r>
          </a:p>
          <a:p>
            <a:pPr>
              <a:defRPr sz="2200" b="1">
                <a:solidFill>
                  <a:srgbClr val="4F46E5"/>
                </a:solidFill>
                <a:latin typeface="Segoe UI"/>
              </a:defRPr>
            </a:pPr>
            <a:r>
              <a:t>Slide 7: Sơ Đồ Cơ Sở Dữ Liệu 7 Bảng (Visual ERD Diagram)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38404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👤 USERS (Tài khoản)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3200400" cy="1627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🔑 </a:t>
            </a:r>
            <a:r>
              <a:rPr sz="1000" b="1">
                <a:solidFill>
                  <a:srgbClr val="4F46E5"/>
                </a:solidFill>
                <a:latin typeface="Segoe UI"/>
              </a:rPr>
              <a:t>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username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password_hash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role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full_name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🔗 </a:t>
            </a:r>
            <a:r>
              <a:rPr sz="1000" b="1">
                <a:solidFill>
                  <a:srgbClr val="4F46E5"/>
                </a:solidFill>
                <a:latin typeface="Segoe UI"/>
              </a:rPr>
              <a:t>reader_id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🎴 READERS (Độc giả)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1801368"/>
            <a:ext cx="3200400" cy="1627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🔑 </a:t>
            </a:r>
            <a:r>
              <a:rPr sz="1000" b="1">
                <a:solidFill>
                  <a:srgbClr val="4F46E5"/>
                </a:solidFill>
                <a:latin typeface="Segoe UI"/>
              </a:rPr>
              <a:t>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reader_code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full_name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email / phone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card_type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expiry_date</a:t>
            </a:r>
            <a:r>
              <a:rPr sz="900">
                <a:solidFill>
                  <a:srgbClr val="475569"/>
                </a:solidFill>
                <a:latin typeface="Segoe UI"/>
              </a:rPr>
              <a:t>  (DATE)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3840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🏷️ CATEGORIES (Thể loại)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01368"/>
            <a:ext cx="3200400" cy="1627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🔑 </a:t>
            </a:r>
            <a:r>
              <a:rPr sz="1000" b="1">
                <a:solidFill>
                  <a:srgbClr val="4F46E5"/>
                </a:solidFill>
                <a:latin typeface="Segoe UI"/>
              </a:rPr>
              <a:t>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code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name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description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383280" cy="38404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📚 BOOKS (Kho sách)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87368"/>
            <a:ext cx="3200400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🔑 </a:t>
            </a:r>
            <a:r>
              <a:rPr sz="1000" b="1">
                <a:solidFill>
                  <a:srgbClr val="4F46E5"/>
                </a:solidFill>
                <a:latin typeface="Segoe UI"/>
              </a:rPr>
              <a:t>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book_code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title / author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🔗 </a:t>
            </a:r>
            <a:r>
              <a:rPr sz="1000" b="1">
                <a:solidFill>
                  <a:srgbClr val="4F46E5"/>
                </a:solidFill>
                <a:latin typeface="Segoe UI"/>
              </a:rPr>
              <a:t>category_id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total_qty / avail</a:t>
            </a:r>
            <a:r>
              <a:rPr sz="900">
                <a:solidFill>
                  <a:srgbClr val="475569"/>
                </a:solidFill>
                <a:latin typeface="Segoe UI"/>
              </a:rPr>
              <a:t>  (INT)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rack_location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657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383280" cy="38404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🤝 BORROW_RECORDS (Mượn/Trả)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087368"/>
            <a:ext cx="3200400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🔑 </a:t>
            </a:r>
            <a:r>
              <a:rPr sz="1000" b="1">
                <a:solidFill>
                  <a:srgbClr val="4F46E5"/>
                </a:solidFill>
                <a:latin typeface="Segoe UI"/>
              </a:rPr>
              <a:t>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borrow_code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🔗 </a:t>
            </a:r>
            <a:r>
              <a:rPr sz="1000" b="1">
                <a:solidFill>
                  <a:srgbClr val="4F46E5"/>
                </a:solidFill>
                <a:latin typeface="Segoe UI"/>
              </a:rPr>
              <a:t>reader_id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🔗 </a:t>
            </a:r>
            <a:r>
              <a:rPr sz="1000" b="1">
                <a:solidFill>
                  <a:srgbClr val="4F46E5"/>
                </a:solidFill>
                <a:latin typeface="Segoe UI"/>
              </a:rPr>
              <a:t>book_id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borrow_date / due</a:t>
            </a:r>
            <a:r>
              <a:rPr sz="900">
                <a:solidFill>
                  <a:srgbClr val="475569"/>
                </a:solidFill>
                <a:latin typeface="Segoe UI"/>
              </a:rPr>
              <a:t>  (DATE)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fine_amount</a:t>
            </a:r>
            <a:r>
              <a:rPr sz="900">
                <a:solidFill>
                  <a:srgbClr val="475569"/>
                </a:solidFill>
                <a:latin typeface="Segoe UI"/>
              </a:rPr>
              <a:t>  (REAL)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657600"/>
            <a:ext cx="3383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3657600"/>
            <a:ext cx="338328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📌 RESERVATIONS (Đặt trước)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087368"/>
            <a:ext cx="32004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🔑 </a:t>
            </a:r>
            <a:r>
              <a:rPr sz="1000" b="1">
                <a:solidFill>
                  <a:srgbClr val="4F46E5"/>
                </a:solidFill>
                <a:latin typeface="Segoe UI"/>
              </a:rPr>
              <a:t>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🔗 </a:t>
            </a:r>
            <a:r>
              <a:rPr sz="1000" b="1">
                <a:solidFill>
                  <a:srgbClr val="4F46E5"/>
                </a:solidFill>
                <a:latin typeface="Segoe UI"/>
              </a:rPr>
              <a:t>book_id / reader_id</a:t>
            </a:r>
            <a:r>
              <a:rPr sz="900">
                <a:solidFill>
                  <a:srgbClr val="475569"/>
                </a:solidFill>
                <a:latin typeface="Segoe UI"/>
              </a:rPr>
              <a:t>  (INT)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queue_order</a:t>
            </a:r>
            <a:r>
              <a:rPr sz="900">
                <a:solidFill>
                  <a:srgbClr val="475569"/>
                </a:solidFill>
                <a:latin typeface="Segoe UI"/>
              </a:rPr>
              <a:t>  (INT)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800600"/>
            <a:ext cx="3383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800600"/>
            <a:ext cx="3383280" cy="38404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💰 FINE_LOGS (Thu phạt)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230368"/>
            <a:ext cx="32004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🔑 </a:t>
            </a:r>
            <a:r>
              <a:rPr sz="1000" b="1">
                <a:solidFill>
                  <a:srgbClr val="4F46E5"/>
                </a:solidFill>
                <a:latin typeface="Segoe UI"/>
              </a:rPr>
              <a:t>id</a:t>
            </a:r>
            <a:r>
              <a:rPr sz="900">
                <a:solidFill>
                  <a:srgbClr val="475569"/>
                </a:solidFill>
                <a:latin typeface="Segoe UI"/>
              </a:rPr>
              <a:t>  (INTEGER)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🔗 </a:t>
            </a:r>
            <a:r>
              <a:rPr sz="1000" b="1">
                <a:solidFill>
                  <a:srgbClr val="4F46E5"/>
                </a:solidFill>
                <a:latin typeface="Segoe UI"/>
              </a:rPr>
              <a:t>borrow_id / reader_id</a:t>
            </a:r>
            <a:r>
              <a:rPr sz="900">
                <a:solidFill>
                  <a:srgbClr val="475569"/>
                </a:solidFill>
                <a:latin typeface="Segoe UI"/>
              </a:rPr>
              <a:t>  (INT)</a:t>
            </a:r>
          </a:p>
          <a:p>
            <a:pPr>
              <a:spcAft>
                <a:spcPts val="250"/>
              </a:spcAft>
            </a:pPr>
            <a:r>
              <a:rPr sz="950">
                <a:latin typeface="Segoe UI"/>
              </a:rPr>
              <a:t>▫️ </a:t>
            </a:r>
            <a:r>
              <a:rPr sz="1000" b="0">
                <a:solidFill>
                  <a:srgbClr val="0F172A"/>
                </a:solidFill>
                <a:latin typeface="Segoe UI"/>
              </a:rPr>
              <a:t>amount / method</a:t>
            </a:r>
            <a:r>
              <a:rPr sz="900">
                <a:solidFill>
                  <a:srgbClr val="475569"/>
                </a:solidFill>
                <a:latin typeface="Segoe UI"/>
              </a:rPr>
              <a:t>  (TEXT)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82880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🔗 CÁC MỐI QUAN HỆ CHÍNH GIỮA CÁC BẢNG DỮ LIỆU (DATABASE RELATIONSHIPS):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users.reader_id ──&gt; readers.id (1-1)  |  • books.category_id ──&gt; categories.id (N-1)  |  • borrow_records (reader_id, book_id) ──&gt; (readers, books) (N-1)  |  • fine_logs.borrow_id ──&gt; borrow_records.id (1-1)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BÁO CÁO TIẾN ĐỘ DỰ ÁN - HỆ THỐNG QUẢN LÝ THƯ VIỆN</a:t>
            </a:r>
          </a:p>
          <a:p>
            <a:pPr>
              <a:defRPr sz="2200" b="1">
                <a:solidFill>
                  <a:srgbClr val="4F46E5"/>
                </a:solidFill>
                <a:latin typeface="Segoe UI"/>
              </a:defRPr>
            </a:pPr>
            <a:r>
              <a:t>Slide 8: Kiến Trúc Hệ Thống &amp; Mô Hình Giao Tiếp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A5E9"/>
                </a:solidFill>
                <a:latin typeface="Segoe UI"/>
              </a:defRPr>
            </a:pPr>
            <a:r>
              <a:t>💻 Frontend Layer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Single Page Application (SPA)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HTML5 Semantic Structure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Vanilla CSS3 Modern Light Theme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JavaScript ES6+ Fetch API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Thư viện Chart.js (Biểu đồ)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Segoe UI"/>
              </a:defRPr>
            </a:pPr>
            <a:r>
              <a:t>⚙️ Backend &amp; DB Layer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Python Custom HTTP Server (server.py)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RESTful API Endpoints (/api/...)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SQLite3 Database File (library.db)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SHA-256 Password Hashing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• Auto Overdue Fine Calculator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E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🔄 Cách Giao Tiếp Bằng REST API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1. Người dùng thao tác trên Web SPA.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2. Frontend gửi HTTP Request (GET/POST/PUT/DELETE) chứa dữ liệu JSON.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3. Backend tiếp nhận, xử lý logic &amp; truy vấn SQLite CSDL.</a:t>
            </a:r>
          </a:p>
          <a:p>
            <a:pPr>
              <a:spcAft>
                <a:spcPts val="4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4. Server trả kết quả JSON về cho Frontend hiển thị tức thì.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BÁO CÁO TIẾN ĐỘ DỰ ÁN - HỆ THỐNG QUẢN LÝ THƯ VIỆN</a:t>
            </a:r>
          </a:p>
          <a:p>
            <a:pPr>
              <a:defRPr sz="2200" b="1">
                <a:solidFill>
                  <a:srgbClr val="4F46E5"/>
                </a:solidFill>
                <a:latin typeface="Segoe UI"/>
              </a:defRPr>
            </a:pPr>
            <a:r>
              <a:t>Slide 9: Web Demo &amp; Kịch Bản Demo Trình Diễn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A5E9"/>
                </a:solidFill>
                <a:latin typeface="Segoe UI"/>
              </a:defRPr>
            </a:pPr>
            <a:r>
              <a:t>🖥️ Các Màn Hình Mẫu Quan Trọng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1. Cổng Đăng Nhập (Login Gate): Sử dụng nút preset Đăng nhập nhanh.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2. Trang Dashboard Thống Kê: Xem 4 thẻ KPIs &amp; 2 Biểu đồ Chart.js.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3. Trang Quản Lý Kho Sách: Xem danh sách dạng Grid/Table, thêm sách mới.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4. Trang Quản Lý Độc Giả: Cấp mới thẻ độc giả &amp; quản lý thời hạn.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5. Trang Quản Lý Mượn/Trả/Phạt: Lập phiếu mượn, gia hạn &amp; trả sách.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6. Trang Đặt Trước: Xem hàng chờ đăng ký sách hết kho.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📋 Thứ Tự Kịch Bản Demo Đề Xuất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Bước 1: Mở Web &amp; Đăng nhập tài khoản Thủ thư (Preset: thuthu1 / 123456).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Bước 2: Vào màn hình Tra cứu Sách -&gt; Tìm kiếm từ khóa &amp; Lọc thể loại.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Bước 3: Thực hiện Thêm 1 cuốn sách mới vào kho -&gt; Kiểm tra vị trí kệ.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Bước 4: Sang tab Quản lý Độc giả -&gt; Đăng ký 1 thẻ độc giả mới.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Bước 5: Lập 1 Phiếu mượn sách mới -&gt; Kiểm tra tồn kho giảm đi 1.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Bước 6: Thực hiện Trả sách -&gt; Kiểm tra tính tiền phạt nếu trễ hạn &amp; Thu phạt.</a:t>
            </a:r>
          </a:p>
          <a:p>
            <a:pPr>
              <a:spcAft>
                <a:spcPts val="45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Bước 7: Xem Báo cáo Dashboard Thống kê tự động cập nhật.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971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0B981"/>
                </a:solidFill>
                <a:latin typeface="Segoe UI"/>
              </a:defRPr>
            </a:pPr>
            <a:r>
              <a:t>KẾT QUẢ ĐẠT ĐƯỢC, HẠN CHẾ &amp; HƯỚNG PHÁT TRIỂN</a:t>
            </a:r>
          </a:p>
          <a:p>
            <a:pPr>
              <a:spcAft>
                <a:spcPts val="300"/>
              </a:spcAft>
              <a:defRPr sz="1350" b="1">
                <a:solidFill>
                  <a:srgbClr val="4F46E5"/>
                </a:solidFill>
                <a:latin typeface="Segoe UI"/>
              </a:defRPr>
            </a:pPr>
            <a:r>
              <a:t>🎯 KẾT QUẢ ĐÃ HOÀN THÀNH: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  • Hoàn thiện 100% ứng dụng Web Quản lý Thư viện SPA mượt mà, màu sắc tươi sáng, tương thích mọi thiết bị.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  • Thực hiện thành công toàn bộ nghiệp vụ: Đăng nhập/Phân quyền, Quản lý kho sách, Độc giả, Mượn/Trả/Phạt, Đặt trước &amp; Dashboard thống kê.</a:t>
            </a:r>
          </a:p>
          <a:p>
            <a:pPr>
              <a:spcAft>
                <a:spcPts val="300"/>
              </a:spcAft>
              <a:defRPr sz="1350" b="1">
                <a:solidFill>
                  <a:srgbClr val="F43F5E"/>
                </a:solidFill>
                <a:latin typeface="Segoe UI"/>
              </a:defRPr>
            </a:pPr>
            <a:r>
              <a:t>⚠️ HẠN CHẾ HIỆN TẠI: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  • Chưa tích hợp phần cứng quét mã vạch Barcode/QR Code thực tế.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  • Chưa có tính năng gửi Email/SMS tự động nhắc hạn trả cho độc giả.</a:t>
            </a:r>
          </a:p>
          <a:p>
            <a:pPr>
              <a:spcAft>
                <a:spcPts val="300"/>
              </a:spcAft>
              <a:defRPr sz="1350" b="1">
                <a:solidFill>
                  <a:srgbClr val="F59E0B"/>
                </a:solidFill>
                <a:latin typeface="Segoe UI"/>
              </a:defRPr>
            </a:pPr>
            <a:r>
              <a:t>🚀 HƯỚNG PHÁT TRIỂN TRONG TƯƠNG LAI: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  • Tích hợp Camera quét mã vạch Barcode/QR Code cho mượn sách 1s.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  • Phát triển Mobile App (iOS/Android) gửi thông báo đẩy nhắc hạn mượn.</a:t>
            </a:r>
          </a:p>
          <a:p>
            <a:br/>
            <a:pPr algn="ctr">
              <a:defRPr sz="1400" b="1">
                <a:solidFill>
                  <a:srgbClr val="4F46E5"/>
                </a:solidFill>
                <a:latin typeface="Segoe UI"/>
              </a:defRPr>
            </a:pPr>
            <a:r>
              <a:t>✨ CHÂN THÀNH CẢM ƠN THẦY CÔ VÀ CÁC BẠN ĐÃ LẮNG NGHE!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